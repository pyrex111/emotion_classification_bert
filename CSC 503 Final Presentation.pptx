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kina Kuperu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B74762-90FC-4D7A-8A8A-4D075B6B5C0D}">
  <a:tblStyle styleId="{4BB74762-90FC-4D7A-8A8A-4D075B6B5C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3E2D2C0-AD56-48B8-9D5A-4099B30BE46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3-30T23:25:38.766">
    <p:pos x="2704" y="160"/>
    <p:text>Sentiment analysis?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8c98318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8c98318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e182cacc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e182cacc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dfb014e1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dfb014e1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dfb014e1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dfb014e1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dfb014e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dfb014e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70ee6374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70ee6374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67e8b07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67e8b0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Initial preprocessing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Combining conversations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Stopword removal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TF-IDF</a:t>
            </a:r>
            <a:endParaRPr sz="1200">
              <a:solidFill>
                <a:srgbClr val="595959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Traditional models we tried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Random Forests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Logistic Regression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SVM</a:t>
            </a:r>
            <a:endParaRPr sz="1200">
              <a:solidFill>
                <a:srgbClr val="595959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Further preprocessing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Emotion mapping</a:t>
            </a:r>
            <a:endParaRPr sz="1200">
              <a:solidFill>
                <a:srgbClr val="595959"/>
              </a:solidFill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Angry and annoyed are similar (give examples)</a:t>
            </a:r>
            <a:endParaRPr sz="1200">
              <a:solidFill>
                <a:srgbClr val="595959"/>
              </a:solidFill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Share heatmap</a:t>
            </a:r>
            <a:endParaRPr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70ee6374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70ee6374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Initial preprocessing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Combining conversations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Stopword removal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TF-IDF</a:t>
            </a:r>
            <a:endParaRPr sz="1200">
              <a:solidFill>
                <a:srgbClr val="595959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Traditional models we tried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Random Forests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Logistic Regression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SVM</a:t>
            </a:r>
            <a:endParaRPr sz="1200">
              <a:solidFill>
                <a:srgbClr val="595959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Further preprocessing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Emotion mapping</a:t>
            </a:r>
            <a:endParaRPr sz="1200">
              <a:solidFill>
                <a:srgbClr val="595959"/>
              </a:solidFill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Angry and annoyed are similar (give examples)</a:t>
            </a:r>
            <a:endParaRPr sz="1200">
              <a:solidFill>
                <a:srgbClr val="595959"/>
              </a:solidFill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-"/>
            </a:pPr>
            <a:r>
              <a:rPr lang="en" sz="1200">
                <a:solidFill>
                  <a:srgbClr val="595959"/>
                </a:solidFill>
              </a:rPr>
              <a:t>Share heatmap</a:t>
            </a:r>
            <a:endParaRPr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70ee6374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70ee6374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b497e894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b497e894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8c98318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8c98318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e1af363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e1af363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 32 labels to 19 labels at the end after we put together the strongest correlation classes together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8c983188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8c983188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6c3d3a0c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6c3d3a0c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6c3d3a0c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6c3d3a0c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6c3d3a0c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46c3d3a0c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7b7ff235c232ff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7b7ff235c232ff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62b8337b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462b8337b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651425fe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4651425fe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4651425fe7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4651425fe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As the number of classes increases, learning becomes more difficult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For the final classification of 19 emotions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Note that random classification would have an error of .9474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b497e894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3b497e894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3e1af3634f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3e1af3634f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3e1af3634f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3e1af3634f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3e1af3634f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3e1af3634f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3e1af3634f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3e1af3634f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38c98318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38c98318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3e1af3634f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3e1af3634f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3b497e894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3b497e894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3e1af3634f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3e1af3634f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3e1af3634f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3e1af3634f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470ee6374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470ee6374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3e4820cb2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3e4820cb2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hyperlink" Target="https://huggingface.co/blog/bert-101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Relationship Id="rId4" Type="http://schemas.openxmlformats.org/officeDocument/2006/relationships/hyperlink" Target="https://www.researchgate.net/figure/BERT-base-uncased-model-architecture-which-comprises-12-transformer-block-layers-each_fig2_374608193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Empathetic</a:t>
            </a:r>
            <a:r>
              <a:rPr lang="en"/>
              <a:t> </a:t>
            </a:r>
            <a:r>
              <a:rPr lang="en"/>
              <a:t>Dialogues</a:t>
            </a:r>
            <a:r>
              <a:rPr lang="en"/>
              <a:t> Classification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578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780">
                <a:solidFill>
                  <a:schemeClr val="dk1"/>
                </a:solidFill>
              </a:rPr>
              <a:t>Nitin Gupta, Akina Kuperus, Taimoor Shahzad, Riya Shrestha, Abdul-Wahid Yakubu</a:t>
            </a:r>
            <a:endParaRPr sz="178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empathy? 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72125" y="1765625"/>
            <a:ext cx="3896700" cy="29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50">
                <a:solidFill>
                  <a:schemeClr val="dk1"/>
                </a:solidFill>
              </a:rPr>
              <a:t>Problem:</a:t>
            </a:r>
            <a:endParaRPr b="1" sz="3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50">
                <a:solidFill>
                  <a:schemeClr val="dk1"/>
                </a:solidFill>
              </a:rPr>
              <a:t>Comparing traditional ML and deep learning techniques to build a text-based emotion/empathy classifier.</a:t>
            </a:r>
            <a:endParaRPr b="1" sz="3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250">
                <a:solidFill>
                  <a:schemeClr val="dk1"/>
                </a:solidFill>
              </a:rPr>
              <a:t>Goal:</a:t>
            </a:r>
            <a:endParaRPr sz="3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250">
                <a:solidFill>
                  <a:schemeClr val="dk1"/>
                </a:solidFill>
              </a:rPr>
              <a:t>To evaluate the effectiveness traditional ML vs. deep learning in emotion analysis 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free Danbo photos download, sort by aesthetic score | free photos ..."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825" y="2229375"/>
            <a:ext cx="4519526" cy="24851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1105325"/>
            <a:ext cx="826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Empathy is the </a:t>
            </a:r>
            <a:r>
              <a:rPr b="1" lang="en" sz="1800">
                <a:solidFill>
                  <a:schemeClr val="dk1"/>
                </a:solidFill>
              </a:rPr>
              <a:t>ability to understand and share the feelings of others.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293325" y="255050"/>
            <a:ext cx="4539000" cy="46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Advancements in </a:t>
            </a:r>
            <a:r>
              <a:rPr b="1" lang="en">
                <a:solidFill>
                  <a:schemeClr val="dk1"/>
                </a:solidFill>
              </a:rPr>
              <a:t>NLP: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Models like BERT excel at </a:t>
            </a:r>
            <a:r>
              <a:rPr lang="en">
                <a:solidFill>
                  <a:schemeClr val="dk1"/>
                </a:solidFill>
              </a:rPr>
              <a:t>understanding but require fine-tuning to effectively capture </a:t>
            </a:r>
            <a:r>
              <a:rPr lang="en">
                <a:solidFill>
                  <a:schemeClr val="dk1"/>
                </a:solidFill>
              </a:rPr>
              <a:t>emotional context.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en">
                <a:solidFill>
                  <a:schemeClr val="dk1"/>
                </a:solidFill>
              </a:rPr>
              <a:t>EmpatheticDialogues </a:t>
            </a:r>
            <a:r>
              <a:rPr lang="en">
                <a:solidFill>
                  <a:schemeClr val="dk1"/>
                </a:solidFill>
              </a:rPr>
              <a:t>Dataset: 25,000 empathetic conversations to train AI on recognizing emotion in text.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Goal: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Develop a machine learning and a deep learning model to classify the emotion of conversations in </a:t>
            </a:r>
            <a:r>
              <a:rPr i="1" lang="en">
                <a:solidFill>
                  <a:schemeClr val="dk1"/>
                </a:solidFill>
              </a:rPr>
              <a:t>EmpatheticDialogues.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descr="File:Emotions wheel.png - Wikimedia Commons"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49" y="508862"/>
            <a:ext cx="4158703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Dataset</a:t>
            </a:r>
            <a:endParaRPr b="1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77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i="1" lang="en" sz="1400">
                <a:solidFill>
                  <a:schemeClr val="dk1"/>
                </a:solidFill>
              </a:rPr>
              <a:t>EmpatheticDialogues </a:t>
            </a:r>
            <a:r>
              <a:rPr lang="en" sz="1400">
                <a:solidFill>
                  <a:schemeClr val="dk1"/>
                </a:solidFill>
              </a:rPr>
              <a:t>is a dataset designed to train models to recognize, understand, and respond appropriately to human emotions in conversations.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Dataset Overview: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Total conversations: 24,850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Total Participants: 810 (Amazon MTurk)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Dataset Split: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Training set: 19,533 conversations (~78%)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Validation set: 2,770 conversations (~11%)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Test set: 2,547 conversations (~10%)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1300" y="1017725"/>
            <a:ext cx="3750301" cy="310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Dataset and Labels</a:t>
            </a:r>
            <a:endParaRPr b="1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Each conversation has a Speaker (who shares an emotional situation) and a Listener (who responds empathetically).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83" name="Google Shape;83;p17" title="Screenshot 2025-03-27 at 10.52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825" y="1796850"/>
            <a:ext cx="8204348" cy="290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Dataset and Labels</a:t>
            </a:r>
            <a:endParaRPr b="1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392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Includes 32 emotion labels.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Displays frequency of different emotions in dataset.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Highlights most-used words by </a:t>
            </a:r>
            <a:r>
              <a:rPr b="1" lang="en" sz="1300">
                <a:solidFill>
                  <a:schemeClr val="dk1"/>
                </a:solidFill>
              </a:rPr>
              <a:t>Speaker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Listener</a:t>
            </a:r>
            <a:r>
              <a:rPr lang="en" sz="1300">
                <a:solidFill>
                  <a:schemeClr val="dk1"/>
                </a:solidFill>
              </a:rPr>
              <a:t> for each emotion.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 title="Screenshot 2025-03-27 at 10.53.5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6000" y="0"/>
            <a:ext cx="415239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Preprocessing Steps - Combining conversations</a:t>
            </a:r>
            <a:endParaRPr b="1"/>
          </a:p>
        </p:txBody>
      </p:sp>
      <p:graphicFrame>
        <p:nvGraphicFramePr>
          <p:cNvPr id="96" name="Google Shape;96;p19"/>
          <p:cNvGraphicFramePr/>
          <p:nvPr/>
        </p:nvGraphicFramePr>
        <p:xfrm>
          <a:off x="357913" y="174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{4BB74762-90FC-4D7A-8A8A-4D075B6B5C0D}</a:tableStyleId>
              </a:tblPr>
              <a:tblGrid>
                <a:gridCol w="7303725"/>
                <a:gridCol w="1124450"/>
              </a:tblGrid>
              <a:tr h="15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Combined</a:t>
                      </a:r>
                      <a:r>
                        <a:rPr b="1" lang="en"/>
                        <a:t> Conversation (Speaker + Listener)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Label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  <a:tr h="104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</a:t>
                      </a:r>
                      <a:r>
                        <a:rPr lang="en"/>
                        <a:t>I've been hearing some strange noises around the house at night. Oh no! That's scary! What do you think it is? I don't know, that's what's making me anxious. I'm sorry to hear that. I wish I could help you figure it out.”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Afraid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7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“I finally got promoted today at work! Congrats! That’s great! Thank you! I’ve been trying to get it for a while now! That is quite an </a:t>
                      </a:r>
                      <a:r>
                        <a:rPr lang="en"/>
                        <a:t>accomplishment</a:t>
                      </a:r>
                      <a:r>
                        <a:rPr lang="en"/>
                        <a:t> and you should be proud!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Proud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257925" y="445025"/>
            <a:ext cx="901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Preprocessing Steps - Tokenization &amp; Stopword Removal</a:t>
            </a:r>
            <a:endParaRPr b="1"/>
          </a:p>
        </p:txBody>
      </p:sp>
      <p:sp>
        <p:nvSpPr>
          <p:cNvPr id="102" name="Google Shape;102;p20"/>
          <p:cNvSpPr/>
          <p:nvPr/>
        </p:nvSpPr>
        <p:spPr>
          <a:xfrm>
            <a:off x="311700" y="2299875"/>
            <a:ext cx="820500" cy="7977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grpSp>
        <p:nvGrpSpPr>
          <p:cNvPr id="103" name="Google Shape;103;p20"/>
          <p:cNvGrpSpPr/>
          <p:nvPr/>
        </p:nvGrpSpPr>
        <p:grpSpPr>
          <a:xfrm>
            <a:off x="5524505" y="1387499"/>
            <a:ext cx="2652333" cy="2216098"/>
            <a:chOff x="1405375" y="1298081"/>
            <a:chExt cx="3626875" cy="3241806"/>
          </a:xfrm>
        </p:grpSpPr>
        <p:sp>
          <p:nvSpPr>
            <p:cNvPr id="104" name="Google Shape;104;p20"/>
            <p:cNvSpPr txBox="1"/>
            <p:nvPr/>
          </p:nvSpPr>
          <p:spPr>
            <a:xfrm>
              <a:off x="2050456" y="1298081"/>
              <a:ext cx="2336700" cy="5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2"/>
                  </a:solidFill>
                </a:rPr>
                <a:t>Stopword Removal</a:t>
              </a:r>
              <a:endParaRPr b="1" sz="1200">
                <a:solidFill>
                  <a:schemeClr val="dk2"/>
                </a:solidFill>
              </a:endParaRPr>
            </a:p>
          </p:txBody>
        </p:sp>
        <p:pic>
          <p:nvPicPr>
            <p:cNvPr id="105" name="Google Shape;10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05375" y="1901636"/>
              <a:ext cx="3626875" cy="2638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20"/>
          <p:cNvSpPr txBox="1"/>
          <p:nvPr/>
        </p:nvSpPr>
        <p:spPr>
          <a:xfrm>
            <a:off x="2064750" y="1419050"/>
            <a:ext cx="182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Tokenization</a:t>
            </a:r>
            <a:endParaRPr b="1" sz="1200">
              <a:solidFill>
                <a:schemeClr val="dk2"/>
              </a:solidFill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6200" y="1788350"/>
            <a:ext cx="2652455" cy="1846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20"/>
          <p:cNvCxnSpPr>
            <a:stCxn id="102" idx="4"/>
            <a:endCxn id="107" idx="1"/>
          </p:cNvCxnSpPr>
          <p:nvPr/>
        </p:nvCxnSpPr>
        <p:spPr>
          <a:xfrm>
            <a:off x="1132200" y="2698725"/>
            <a:ext cx="554100" cy="1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20"/>
          <p:cNvCxnSpPr>
            <a:stCxn id="107" idx="3"/>
            <a:endCxn id="105" idx="1"/>
          </p:cNvCxnSpPr>
          <p:nvPr/>
        </p:nvCxnSpPr>
        <p:spPr>
          <a:xfrm flipH="1" rot="10800000">
            <a:off x="4338655" y="2701850"/>
            <a:ext cx="1185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Preprocessing Steps - TF-IDF</a:t>
            </a:r>
            <a:endParaRPr b="1"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TF-IDF (Term Frequency-Inverse Document Frequency)</a:t>
            </a:r>
            <a:r>
              <a:rPr lang="en" sz="1400">
                <a:solidFill>
                  <a:schemeClr val="dk1"/>
                </a:solidFill>
              </a:rPr>
              <a:t> measures how important a word is in a document relative to a collection of documents. It helps to identify key terms by reducing the weight of common words.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7738" y="2015013"/>
            <a:ext cx="4848225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Classification using Traditional Models</a:t>
            </a:r>
            <a:endParaRPr b="1"/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1258288" y="131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{13E2D2C0-AD56-48B8-9D5A-4099B30BE461}</a:tableStyleId>
              </a:tblPr>
              <a:tblGrid>
                <a:gridCol w="2364400"/>
                <a:gridCol w="1970300"/>
                <a:gridCol w="2292725"/>
              </a:tblGrid>
              <a:tr h="62387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error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Error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534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Linear SVM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0.7986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0.8125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534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0.3222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0.5548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534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0.3868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0.6609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534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Naive Bayes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0.1125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0.5802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534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Decision Tree 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0.7505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942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Confusion Matrix using SVM - Validation Set</a:t>
            </a:r>
            <a:endParaRPr b="1"/>
          </a:p>
        </p:txBody>
      </p:sp>
      <p:pic>
        <p:nvPicPr>
          <p:cNvPr id="128" name="Google Shape;128;p23" title="confusion_matrix_valid_sv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950" y="506300"/>
            <a:ext cx="5623675" cy="4637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94200" y="0"/>
            <a:ext cx="247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Class </a:t>
            </a:r>
            <a:r>
              <a:rPr b="1" lang="en"/>
              <a:t>Correlation</a:t>
            </a:r>
            <a:r>
              <a:rPr b="1" lang="en"/>
              <a:t> Heat Map</a:t>
            </a:r>
            <a:endParaRPr b="1"/>
          </a:p>
        </p:txBody>
      </p:sp>
      <p:pic>
        <p:nvPicPr>
          <p:cNvPr id="134" name="Google Shape;134;p24" title="Class Correlation Heatmap (Confusion Matrix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9176" y="53350"/>
            <a:ext cx="6493348" cy="50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159300" y="-12175"/>
            <a:ext cx="259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Emotions Mapping Scheme</a:t>
            </a:r>
            <a:endParaRPr b="1" sz="2220"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7575" y="64600"/>
            <a:ext cx="2010775" cy="50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Hierarchical Model</a:t>
            </a:r>
            <a:endParaRPr b="1"/>
          </a:p>
        </p:txBody>
      </p:sp>
      <p:sp>
        <p:nvSpPr>
          <p:cNvPr id="146" name="Google Shape;146;p26"/>
          <p:cNvSpPr/>
          <p:nvPr/>
        </p:nvSpPr>
        <p:spPr>
          <a:xfrm>
            <a:off x="921025" y="1331925"/>
            <a:ext cx="3088800" cy="29331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/>
          <p:nvPr/>
        </p:nvSpPr>
        <p:spPr>
          <a:xfrm>
            <a:off x="5069200" y="1331925"/>
            <a:ext cx="3088800" cy="29331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6"/>
          <p:cNvSpPr txBox="1"/>
          <p:nvPr/>
        </p:nvSpPr>
        <p:spPr>
          <a:xfrm>
            <a:off x="1331875" y="2380425"/>
            <a:ext cx="2267100" cy="836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1"/>
                </a:solidFill>
              </a:rPr>
              <a:t>Positive</a:t>
            </a:r>
            <a:endParaRPr sz="4300">
              <a:solidFill>
                <a:schemeClr val="dk1"/>
              </a:solidFill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5497725" y="2415825"/>
            <a:ext cx="23805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1"/>
                </a:solidFill>
              </a:rPr>
              <a:t>Negative</a:t>
            </a:r>
            <a:endParaRPr sz="4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Hierarchical Model</a:t>
            </a:r>
            <a:endParaRPr b="1"/>
          </a:p>
        </p:txBody>
      </p:sp>
      <p:sp>
        <p:nvSpPr>
          <p:cNvPr id="155" name="Google Shape;155;p27"/>
          <p:cNvSpPr/>
          <p:nvPr/>
        </p:nvSpPr>
        <p:spPr>
          <a:xfrm>
            <a:off x="921025" y="1331925"/>
            <a:ext cx="3088800" cy="15021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7"/>
          <p:cNvSpPr txBox="1"/>
          <p:nvPr/>
        </p:nvSpPr>
        <p:spPr>
          <a:xfrm>
            <a:off x="1331875" y="1579725"/>
            <a:ext cx="2267100" cy="836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1"/>
                </a:solidFill>
              </a:rPr>
              <a:t>Happy</a:t>
            </a:r>
            <a:endParaRPr sz="4300">
              <a:solidFill>
                <a:schemeClr val="dk1"/>
              </a:solidFill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921025" y="3057125"/>
            <a:ext cx="3088800" cy="15021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7"/>
          <p:cNvSpPr/>
          <p:nvPr/>
        </p:nvSpPr>
        <p:spPr>
          <a:xfrm>
            <a:off x="5069200" y="1331925"/>
            <a:ext cx="3088800" cy="15021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"/>
          <p:cNvSpPr/>
          <p:nvPr/>
        </p:nvSpPr>
        <p:spPr>
          <a:xfrm>
            <a:off x="5069200" y="3057125"/>
            <a:ext cx="3088800" cy="15021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 txBox="1"/>
          <p:nvPr/>
        </p:nvSpPr>
        <p:spPr>
          <a:xfrm>
            <a:off x="1048525" y="3390125"/>
            <a:ext cx="2848200" cy="8361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1"/>
                </a:solidFill>
              </a:rPr>
              <a:t>Reflective</a:t>
            </a:r>
            <a:endParaRPr sz="4300">
              <a:solidFill>
                <a:schemeClr val="dk1"/>
              </a:solidFill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5480050" y="1664925"/>
            <a:ext cx="2267100" cy="836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1"/>
                </a:solidFill>
              </a:rPr>
              <a:t>Sad</a:t>
            </a:r>
            <a:endParaRPr sz="4300">
              <a:solidFill>
                <a:schemeClr val="dk1"/>
              </a:solidFill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5480050" y="3390125"/>
            <a:ext cx="2267100" cy="836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dk1"/>
                </a:solidFill>
              </a:rPr>
              <a:t>Angry</a:t>
            </a:r>
            <a:endParaRPr sz="4300">
              <a:solidFill>
                <a:schemeClr val="dk1"/>
              </a:solidFill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658700" y="1107175"/>
            <a:ext cx="3643800" cy="375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7"/>
          <p:cNvSpPr/>
          <p:nvPr/>
        </p:nvSpPr>
        <p:spPr>
          <a:xfrm>
            <a:off x="4723050" y="1107175"/>
            <a:ext cx="3770100" cy="371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Hierarchical Model</a:t>
            </a:r>
            <a:endParaRPr b="1"/>
          </a:p>
        </p:txBody>
      </p:sp>
      <p:sp>
        <p:nvSpPr>
          <p:cNvPr id="170" name="Google Shape;170;p28"/>
          <p:cNvSpPr/>
          <p:nvPr/>
        </p:nvSpPr>
        <p:spPr>
          <a:xfrm>
            <a:off x="921025" y="1331925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8"/>
          <p:cNvSpPr/>
          <p:nvPr/>
        </p:nvSpPr>
        <p:spPr>
          <a:xfrm>
            <a:off x="921025" y="2285400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8"/>
          <p:cNvSpPr/>
          <p:nvPr/>
        </p:nvSpPr>
        <p:spPr>
          <a:xfrm>
            <a:off x="2536225" y="2285400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/>
          <p:nvPr/>
        </p:nvSpPr>
        <p:spPr>
          <a:xfrm>
            <a:off x="2536213" y="1331925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2670775" y="1380825"/>
            <a:ext cx="1204500" cy="4749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Hope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1055575" y="2334300"/>
            <a:ext cx="1204500" cy="4749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Content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2670775" y="2297638"/>
            <a:ext cx="1204500" cy="4749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Grateful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1725100" y="1796613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1859650" y="1854200"/>
            <a:ext cx="1204500" cy="4749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Happy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921025" y="1374100"/>
            <a:ext cx="1339200" cy="4749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Surprised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917575" y="3045088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/>
          <p:nvPr/>
        </p:nvSpPr>
        <p:spPr>
          <a:xfrm>
            <a:off x="917575" y="3998563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/>
          <p:nvPr/>
        </p:nvSpPr>
        <p:spPr>
          <a:xfrm>
            <a:off x="2532775" y="3998563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/>
          <p:nvPr/>
        </p:nvSpPr>
        <p:spPr>
          <a:xfrm>
            <a:off x="2532763" y="3045088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8"/>
          <p:cNvSpPr txBox="1"/>
          <p:nvPr/>
        </p:nvSpPr>
        <p:spPr>
          <a:xfrm>
            <a:off x="2667325" y="3093988"/>
            <a:ext cx="1204500" cy="4749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Caring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917425" y="4047463"/>
            <a:ext cx="1473600" cy="4749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Recogn</a:t>
            </a:r>
            <a:r>
              <a:rPr lang="en" sz="1900">
                <a:solidFill>
                  <a:schemeClr val="dk1"/>
                </a:solidFill>
              </a:rPr>
              <a:t>ition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2667325" y="4010800"/>
            <a:ext cx="1204500" cy="4749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Trusting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1721650" y="3509775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8"/>
          <p:cNvSpPr txBox="1"/>
          <p:nvPr/>
        </p:nvSpPr>
        <p:spPr>
          <a:xfrm>
            <a:off x="1721500" y="3558688"/>
            <a:ext cx="1473600" cy="4749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Nostalgia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917575" y="3106188"/>
            <a:ext cx="1339200" cy="4749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Faithful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5069200" y="1328563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8"/>
          <p:cNvSpPr/>
          <p:nvPr/>
        </p:nvSpPr>
        <p:spPr>
          <a:xfrm>
            <a:off x="5069200" y="2282038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6684400" y="2282038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/>
          <p:nvPr/>
        </p:nvSpPr>
        <p:spPr>
          <a:xfrm>
            <a:off x="6684388" y="1328563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 txBox="1"/>
          <p:nvPr/>
        </p:nvSpPr>
        <p:spPr>
          <a:xfrm>
            <a:off x="6818950" y="1377463"/>
            <a:ext cx="1204500" cy="47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Worried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5069050" y="2330950"/>
            <a:ext cx="1473600" cy="47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Disappointed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6818950" y="2294275"/>
            <a:ext cx="1204500" cy="47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Lonely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5873275" y="1793250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6007825" y="1850838"/>
            <a:ext cx="1204500" cy="47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Sadness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5069200" y="1370738"/>
            <a:ext cx="1339200" cy="47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Shame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5069200" y="3033063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5069200" y="3986538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8"/>
          <p:cNvSpPr/>
          <p:nvPr/>
        </p:nvSpPr>
        <p:spPr>
          <a:xfrm>
            <a:off x="6684400" y="3986538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8"/>
          <p:cNvSpPr/>
          <p:nvPr/>
        </p:nvSpPr>
        <p:spPr>
          <a:xfrm>
            <a:off x="6684388" y="3033063"/>
            <a:ext cx="1473600" cy="572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8"/>
          <p:cNvSpPr txBox="1"/>
          <p:nvPr/>
        </p:nvSpPr>
        <p:spPr>
          <a:xfrm>
            <a:off x="6818950" y="3081963"/>
            <a:ext cx="1204500" cy="47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Fear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5203750" y="4035438"/>
            <a:ext cx="1204500" cy="47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Disgust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6818950" y="3998775"/>
            <a:ext cx="1204500" cy="47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Jealousy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5069200" y="3075238"/>
            <a:ext cx="1339200" cy="47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Anger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826875" y="1275375"/>
            <a:ext cx="3307500" cy="1627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798900" y="2902875"/>
            <a:ext cx="3307500" cy="1778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8"/>
          <p:cNvSpPr/>
          <p:nvPr/>
        </p:nvSpPr>
        <p:spPr>
          <a:xfrm>
            <a:off x="4905250" y="1303275"/>
            <a:ext cx="3391500" cy="1627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8"/>
          <p:cNvSpPr/>
          <p:nvPr/>
        </p:nvSpPr>
        <p:spPr>
          <a:xfrm>
            <a:off x="4905250" y="2937075"/>
            <a:ext cx="3391500" cy="1709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8"/>
          <p:cNvSpPr/>
          <p:nvPr/>
        </p:nvSpPr>
        <p:spPr>
          <a:xfrm>
            <a:off x="658700" y="1107175"/>
            <a:ext cx="3643800" cy="375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4723050" y="1107175"/>
            <a:ext cx="3770100" cy="371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/>
          <p:nvPr/>
        </p:nvSpPr>
        <p:spPr>
          <a:xfrm>
            <a:off x="4242964" y="918287"/>
            <a:ext cx="1008000" cy="90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9"/>
          <p:cNvSpPr/>
          <p:nvPr/>
        </p:nvSpPr>
        <p:spPr>
          <a:xfrm>
            <a:off x="1963682" y="1822283"/>
            <a:ext cx="1008000" cy="9039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9"/>
          <p:cNvSpPr/>
          <p:nvPr/>
        </p:nvSpPr>
        <p:spPr>
          <a:xfrm>
            <a:off x="6349168" y="1822283"/>
            <a:ext cx="1008000" cy="9039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9"/>
          <p:cNvSpPr/>
          <p:nvPr/>
        </p:nvSpPr>
        <p:spPr>
          <a:xfrm>
            <a:off x="728775" y="3188520"/>
            <a:ext cx="1008000" cy="9039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9"/>
          <p:cNvSpPr/>
          <p:nvPr/>
        </p:nvSpPr>
        <p:spPr>
          <a:xfrm>
            <a:off x="3110884" y="3188520"/>
            <a:ext cx="1008000" cy="903900"/>
          </a:xfrm>
          <a:prstGeom prst="ellipse">
            <a:avLst/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5369988" y="3188570"/>
            <a:ext cx="1008000" cy="9039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9"/>
          <p:cNvSpPr/>
          <p:nvPr/>
        </p:nvSpPr>
        <p:spPr>
          <a:xfrm>
            <a:off x="7492170" y="3188570"/>
            <a:ext cx="1008000" cy="9039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/>
          <p:nvPr/>
        </p:nvSpPr>
        <p:spPr>
          <a:xfrm>
            <a:off x="3710429" y="279150"/>
            <a:ext cx="2073300" cy="45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TF-IDF</a:t>
            </a:r>
            <a:endParaRPr sz="2100"/>
          </a:p>
        </p:txBody>
      </p:sp>
      <p:cxnSp>
        <p:nvCxnSpPr>
          <p:cNvPr id="226" name="Google Shape;226;p29"/>
          <p:cNvCxnSpPr>
            <a:stCxn id="219" idx="7"/>
            <a:endCxn id="218" idx="2"/>
          </p:cNvCxnSpPr>
          <p:nvPr/>
        </p:nvCxnSpPr>
        <p:spPr>
          <a:xfrm flipH="1" rot="10800000">
            <a:off x="2824064" y="1370256"/>
            <a:ext cx="1419000" cy="584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29"/>
          <p:cNvCxnSpPr>
            <a:stCxn id="218" idx="6"/>
            <a:endCxn id="220" idx="1"/>
          </p:cNvCxnSpPr>
          <p:nvPr/>
        </p:nvCxnSpPr>
        <p:spPr>
          <a:xfrm>
            <a:off x="5250964" y="1370237"/>
            <a:ext cx="1245900" cy="584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9"/>
          <p:cNvCxnSpPr>
            <a:stCxn id="219" idx="3"/>
            <a:endCxn id="221" idx="7"/>
          </p:cNvCxnSpPr>
          <p:nvPr/>
        </p:nvCxnSpPr>
        <p:spPr>
          <a:xfrm flipH="1">
            <a:off x="1589300" y="2593810"/>
            <a:ext cx="522000" cy="72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9"/>
          <p:cNvCxnSpPr>
            <a:stCxn id="219" idx="5"/>
            <a:endCxn id="222" idx="1"/>
          </p:cNvCxnSpPr>
          <p:nvPr/>
        </p:nvCxnSpPr>
        <p:spPr>
          <a:xfrm>
            <a:off x="2824064" y="2593810"/>
            <a:ext cx="434400" cy="72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9"/>
          <p:cNvCxnSpPr>
            <a:stCxn id="220" idx="3"/>
            <a:endCxn id="223" idx="7"/>
          </p:cNvCxnSpPr>
          <p:nvPr/>
        </p:nvCxnSpPr>
        <p:spPr>
          <a:xfrm flipH="1">
            <a:off x="6230386" y="2593810"/>
            <a:ext cx="266400" cy="72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9"/>
          <p:cNvCxnSpPr>
            <a:stCxn id="220" idx="5"/>
            <a:endCxn id="224" idx="1"/>
          </p:cNvCxnSpPr>
          <p:nvPr/>
        </p:nvCxnSpPr>
        <p:spPr>
          <a:xfrm>
            <a:off x="7209549" y="2593810"/>
            <a:ext cx="430200" cy="72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9"/>
          <p:cNvSpPr txBox="1"/>
          <p:nvPr/>
        </p:nvSpPr>
        <p:spPr>
          <a:xfrm>
            <a:off x="2824264" y="1144357"/>
            <a:ext cx="10080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Positive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5577265" y="1209162"/>
            <a:ext cx="12456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Negative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955452" y="2593894"/>
            <a:ext cx="10080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Happy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2971912" y="2593894"/>
            <a:ext cx="12711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Reflective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5488585" y="2593894"/>
            <a:ext cx="10080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Angry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7357397" y="2593894"/>
            <a:ext cx="10080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Sad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38" name="Google Shape;238;p29"/>
          <p:cNvCxnSpPr>
            <a:stCxn id="225" idx="2"/>
            <a:endCxn id="218" idx="0"/>
          </p:cNvCxnSpPr>
          <p:nvPr/>
        </p:nvCxnSpPr>
        <p:spPr>
          <a:xfrm>
            <a:off x="4747079" y="730950"/>
            <a:ext cx="0" cy="18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File:Logistic-curve.svg - Wikipedia" id="239" name="Google Shape;23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954" y="1055735"/>
            <a:ext cx="1008227" cy="628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Logistic-curve.svg - Wikipedia" id="240" name="Google Shape;2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3684" y="1959793"/>
            <a:ext cx="1008227" cy="628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Logistic-curve.svg - Wikipedia" id="241" name="Google Shape;24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9170" y="1959793"/>
            <a:ext cx="1008227" cy="628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Logistic-curve.svg - Wikipedia" id="242" name="Google Shape;2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777" y="3326030"/>
            <a:ext cx="1008227" cy="628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Logistic-curve.svg - Wikipedia" id="243" name="Google Shape;24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899" y="3326030"/>
            <a:ext cx="1008227" cy="628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Logistic-curve.svg - Wikipedia" id="244" name="Google Shape;24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940" y="3326030"/>
            <a:ext cx="1008227" cy="628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Logistic-curve.svg - Wikipedia" id="245" name="Google Shape;2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072" y="3325980"/>
            <a:ext cx="1008227" cy="62898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9"/>
          <p:cNvSpPr/>
          <p:nvPr/>
        </p:nvSpPr>
        <p:spPr>
          <a:xfrm>
            <a:off x="196200" y="4442750"/>
            <a:ext cx="2073300" cy="5844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Surprised</a:t>
            </a:r>
            <a:r>
              <a:rPr lang="en"/>
              <a:t>, Hope, Happy, Content, Grateful</a:t>
            </a:r>
            <a:endParaRPr/>
          </a:p>
        </p:txBody>
      </p:sp>
      <p:sp>
        <p:nvSpPr>
          <p:cNvPr id="247" name="Google Shape;247;p29"/>
          <p:cNvSpPr/>
          <p:nvPr/>
        </p:nvSpPr>
        <p:spPr>
          <a:xfrm>
            <a:off x="2578363" y="4442750"/>
            <a:ext cx="2073300" cy="5844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Faithful, Caring, Nostalgia, Recognition, Trusting</a:t>
            </a:r>
            <a:endParaRPr/>
          </a:p>
        </p:txBody>
      </p:sp>
      <p:sp>
        <p:nvSpPr>
          <p:cNvPr id="248" name="Google Shape;248;p29"/>
          <p:cNvSpPr/>
          <p:nvPr/>
        </p:nvSpPr>
        <p:spPr>
          <a:xfrm>
            <a:off x="4783263" y="4442750"/>
            <a:ext cx="2073300" cy="5844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Anger, Fear, Disgust, Jealousy</a:t>
            </a:r>
            <a:endParaRPr/>
          </a:p>
        </p:txBody>
      </p:sp>
      <p:sp>
        <p:nvSpPr>
          <p:cNvPr id="249" name="Google Shape;249;p29"/>
          <p:cNvSpPr/>
          <p:nvPr/>
        </p:nvSpPr>
        <p:spPr>
          <a:xfrm>
            <a:off x="6935200" y="4442750"/>
            <a:ext cx="2073300" cy="5844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Shame, Worry, Sadness, Disappointed, Lonely</a:t>
            </a:r>
            <a:endParaRPr/>
          </a:p>
        </p:txBody>
      </p:sp>
      <p:cxnSp>
        <p:nvCxnSpPr>
          <p:cNvPr id="250" name="Google Shape;250;p29"/>
          <p:cNvCxnSpPr>
            <a:stCxn id="221" idx="4"/>
            <a:endCxn id="246" idx="0"/>
          </p:cNvCxnSpPr>
          <p:nvPr/>
        </p:nvCxnSpPr>
        <p:spPr>
          <a:xfrm>
            <a:off x="1232775" y="4092420"/>
            <a:ext cx="0" cy="3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9"/>
          <p:cNvCxnSpPr>
            <a:stCxn id="222" idx="4"/>
            <a:endCxn id="247" idx="0"/>
          </p:cNvCxnSpPr>
          <p:nvPr/>
        </p:nvCxnSpPr>
        <p:spPr>
          <a:xfrm>
            <a:off x="3614884" y="4092420"/>
            <a:ext cx="0" cy="3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9"/>
          <p:cNvCxnSpPr>
            <a:endCxn id="248" idx="0"/>
          </p:cNvCxnSpPr>
          <p:nvPr/>
        </p:nvCxnSpPr>
        <p:spPr>
          <a:xfrm>
            <a:off x="5791113" y="4092350"/>
            <a:ext cx="28800" cy="3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9"/>
          <p:cNvCxnSpPr>
            <a:stCxn id="224" idx="4"/>
            <a:endCxn id="249" idx="0"/>
          </p:cNvCxnSpPr>
          <p:nvPr/>
        </p:nvCxnSpPr>
        <p:spPr>
          <a:xfrm flipH="1">
            <a:off x="7971870" y="4092470"/>
            <a:ext cx="24300" cy="3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29"/>
          <p:cNvSpPr txBox="1"/>
          <p:nvPr>
            <p:ph type="title"/>
          </p:nvPr>
        </p:nvSpPr>
        <p:spPr>
          <a:xfrm>
            <a:off x="209875" y="196300"/>
            <a:ext cx="3048600" cy="5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0" title="C_tuning_s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8988" y="2457738"/>
            <a:ext cx="3530325" cy="264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 title="C_tuning_re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75" y="2419750"/>
            <a:ext cx="3631626" cy="272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 title="C_tuning_happ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3429008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0" title="C_tuning_angry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9000" y="0"/>
            <a:ext cx="3429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 txBox="1"/>
          <p:nvPr/>
        </p:nvSpPr>
        <p:spPr>
          <a:xfrm>
            <a:off x="6853325" y="490525"/>
            <a:ext cx="20181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As classification becomes finer, the regularization strength decreases.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6959300" y="3644200"/>
            <a:ext cx="2184900" cy="14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*In scikit-learn </a:t>
            </a:r>
            <a:r>
              <a:rPr lang="en" sz="1500">
                <a:solidFill>
                  <a:schemeClr val="dk1"/>
                </a:solidFill>
              </a:rPr>
              <a:t>logistic regression, smaller C values induce stronger regularization.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1" title="pos_neg_C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1575" y="0"/>
            <a:ext cx="4360850" cy="30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1" title="sad_angry_C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4556" y="2910900"/>
            <a:ext cx="3189443" cy="223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1" title="ref_happy_C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910900"/>
            <a:ext cx="3189425" cy="223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2" title="final_CM_happ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" y="127525"/>
            <a:ext cx="3587775" cy="25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 txBox="1"/>
          <p:nvPr/>
        </p:nvSpPr>
        <p:spPr>
          <a:xfrm>
            <a:off x="0" y="0"/>
            <a:ext cx="1884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Happy Classification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78" name="Google Shape;278;p32" title="final_CM_re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00" y="2691575"/>
            <a:ext cx="3502750" cy="245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2"/>
          <p:cNvSpPr txBox="1"/>
          <p:nvPr/>
        </p:nvSpPr>
        <p:spPr>
          <a:xfrm>
            <a:off x="0" y="2571750"/>
            <a:ext cx="23805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Reflective</a:t>
            </a:r>
            <a:r>
              <a:rPr lang="en" sz="1300">
                <a:solidFill>
                  <a:schemeClr val="dk1"/>
                </a:solidFill>
              </a:rPr>
              <a:t> Classification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80" name="Google Shape;280;p32" title="final_CM_a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1250" y="157287"/>
            <a:ext cx="3502750" cy="245191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2"/>
          <p:cNvSpPr txBox="1"/>
          <p:nvPr/>
        </p:nvSpPr>
        <p:spPr>
          <a:xfrm>
            <a:off x="6763500" y="0"/>
            <a:ext cx="23805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Angry</a:t>
            </a:r>
            <a:r>
              <a:rPr lang="en" sz="1300">
                <a:solidFill>
                  <a:schemeClr val="dk1"/>
                </a:solidFill>
              </a:rPr>
              <a:t> Classification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82" name="Google Shape;282;p32" title="final_CM_sa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4475" y="2868825"/>
            <a:ext cx="3249525" cy="227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2"/>
          <p:cNvSpPr txBox="1"/>
          <p:nvPr/>
        </p:nvSpPr>
        <p:spPr>
          <a:xfrm>
            <a:off x="6763500" y="2691575"/>
            <a:ext cx="23805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Sad</a:t>
            </a:r>
            <a:r>
              <a:rPr lang="en" sz="1300">
                <a:solidFill>
                  <a:schemeClr val="dk1"/>
                </a:solidFill>
              </a:rPr>
              <a:t> Classification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3"/>
          <p:cNvSpPr txBox="1"/>
          <p:nvPr/>
        </p:nvSpPr>
        <p:spPr>
          <a:xfrm>
            <a:off x="6602950" y="340075"/>
            <a:ext cx="24795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Error increases as the number of classes increases.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89" name="Google Shape;289;p33" title="multiclass_erro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6578075" cy="49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3"/>
          <p:cNvSpPr txBox="1"/>
          <p:nvPr/>
        </p:nvSpPr>
        <p:spPr>
          <a:xfrm>
            <a:off x="6602950" y="3471550"/>
            <a:ext cx="24795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Final Error: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0.3954 ± 0.0190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1" name="Google Shape;291;p33"/>
          <p:cNvSpPr txBox="1"/>
          <p:nvPr/>
        </p:nvSpPr>
        <p:spPr>
          <a:xfrm>
            <a:off x="6602950" y="4461650"/>
            <a:ext cx="24795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*Random classification would have an error of .9474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4"/>
          <p:cNvSpPr txBox="1"/>
          <p:nvPr>
            <p:ph type="title"/>
          </p:nvPr>
        </p:nvSpPr>
        <p:spPr>
          <a:xfrm>
            <a:off x="145500" y="445025"/>
            <a:ext cx="899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BERT - Bidirectional Encoder Representations from Transformers</a:t>
            </a:r>
            <a:endParaRPr b="1" sz="2220"/>
          </a:p>
        </p:txBody>
      </p:sp>
      <p:sp>
        <p:nvSpPr>
          <p:cNvPr id="297" name="Google Shape;297;p34"/>
          <p:cNvSpPr txBox="1"/>
          <p:nvPr>
            <p:ph idx="1" type="body"/>
          </p:nvPr>
        </p:nvSpPr>
        <p:spPr>
          <a:xfrm>
            <a:off x="311700" y="1152475"/>
            <a:ext cx="8520600" cy="3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BERT is a deep learning model developed by Google that excels in </a:t>
            </a:r>
            <a:r>
              <a:rPr b="1" lang="en" sz="1400">
                <a:solidFill>
                  <a:schemeClr val="dk1"/>
                </a:solidFill>
              </a:rPr>
              <a:t>natural language understanding (NLU)</a:t>
            </a:r>
            <a:r>
              <a:rPr lang="en" sz="1400">
                <a:solidFill>
                  <a:schemeClr val="dk1"/>
                </a:solidFill>
              </a:rPr>
              <a:t> tasks like text classification, question answering, and text generation. 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Unlike previous models that process text from left to right (e.g., GPT) or right to left, BERT </a:t>
            </a:r>
            <a:r>
              <a:rPr b="1" lang="en" sz="1400">
                <a:solidFill>
                  <a:schemeClr val="dk1"/>
                </a:solidFill>
              </a:rPr>
              <a:t>reads the entire sentence at once</a:t>
            </a:r>
            <a:r>
              <a:rPr lang="en" sz="1400">
                <a:solidFill>
                  <a:schemeClr val="dk1"/>
                </a:solidFill>
              </a:rPr>
              <a:t>, learning context from both directions.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P</a:t>
            </a:r>
            <a:r>
              <a:rPr b="1" lang="en" sz="1400">
                <a:solidFill>
                  <a:schemeClr val="dk1"/>
                </a:solidFill>
              </a:rPr>
              <a:t>re-trained</a:t>
            </a:r>
            <a:r>
              <a:rPr lang="en" sz="1400">
                <a:solidFill>
                  <a:schemeClr val="dk1"/>
                </a:solidFill>
              </a:rPr>
              <a:t> on large datasets (like Wikipedia &amp; BooksCorpus) and then </a:t>
            </a:r>
            <a:r>
              <a:rPr b="1" lang="en" sz="1400">
                <a:solidFill>
                  <a:schemeClr val="dk1"/>
                </a:solidFill>
              </a:rPr>
              <a:t>fine-tuned</a:t>
            </a:r>
            <a:r>
              <a:rPr lang="en" sz="1400">
                <a:solidFill>
                  <a:schemeClr val="dk1"/>
                </a:solidFill>
              </a:rPr>
              <a:t> on specific tasks like sentiment analysis or text classification.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BERT - Base vs Large LLM</a:t>
            </a:r>
            <a:endParaRPr b="1" sz="2220"/>
          </a:p>
        </p:txBody>
      </p:sp>
      <p:pic>
        <p:nvPicPr>
          <p:cNvPr id="303" name="Google Shape;303;p35" title="BERT-size-and-architectur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800" y="711175"/>
            <a:ext cx="7203599" cy="398632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5"/>
          <p:cNvSpPr txBox="1"/>
          <p:nvPr/>
        </p:nvSpPr>
        <p:spPr>
          <a:xfrm>
            <a:off x="311700" y="4784900"/>
            <a:ext cx="863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</a:rPr>
              <a:t>Source: </a:t>
            </a:r>
            <a:r>
              <a:rPr lang="en" sz="900" u="sng">
                <a:solidFill>
                  <a:schemeClr val="hlink"/>
                </a:solidFill>
                <a:hlinkClick r:id="rId4"/>
              </a:rPr>
              <a:t>https://huggingface.co/blog/bert-101</a:t>
            </a:r>
            <a:r>
              <a:rPr lang="en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BERT Base - Architecture</a:t>
            </a:r>
            <a:endParaRPr b="1" sz="2220"/>
          </a:p>
        </p:txBody>
      </p:sp>
      <p:pic>
        <p:nvPicPr>
          <p:cNvPr id="310" name="Google Shape;310;p36" title="BERT-base-uncased-model-architecture-which-comprises-12-transformer-block-layers-ea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919775"/>
            <a:ext cx="8096250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6"/>
          <p:cNvSpPr txBox="1"/>
          <p:nvPr/>
        </p:nvSpPr>
        <p:spPr>
          <a:xfrm>
            <a:off x="632875" y="4528025"/>
            <a:ext cx="76119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2"/>
                </a:solidFill>
              </a:rPr>
              <a:t>Source: </a:t>
            </a:r>
            <a:r>
              <a:rPr lang="en" sz="900" u="sng">
                <a:solidFill>
                  <a:schemeClr val="hlink"/>
                </a:solidFill>
                <a:hlinkClick r:id="rId4"/>
              </a:rPr>
              <a:t>https://www.researchgate.net/figure/BERT-base-uncased-model-architecture-which-comprises-12-transformer-block-layers-each_fig2_374608193</a:t>
            </a:r>
            <a:r>
              <a:rPr lang="en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Emotions Mapping - BERT</a:t>
            </a:r>
            <a:endParaRPr b="1" sz="2220"/>
          </a:p>
        </p:txBody>
      </p:sp>
      <p:pic>
        <p:nvPicPr>
          <p:cNvPr id="317" name="Google Shape;317;p37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175" y="789125"/>
            <a:ext cx="6795648" cy="420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3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725" y="724138"/>
            <a:ext cx="6812547" cy="42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Emotions Mapping - BERT</a:t>
            </a:r>
            <a:endParaRPr b="1" sz="222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BERT - Model Training</a:t>
            </a:r>
            <a:endParaRPr b="1"/>
          </a:p>
        </p:txBody>
      </p:sp>
      <p:graphicFrame>
        <p:nvGraphicFramePr>
          <p:cNvPr id="329" name="Google Shape;329;p39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{4BB74762-90FC-4D7A-8A8A-4D075B6B5C0D}</a:tableStyleId>
              </a:tblPr>
              <a:tblGrid>
                <a:gridCol w="2919675"/>
                <a:gridCol w="4797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Component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Purpose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AdamW Optimizer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Optimizes BERT while reducing weight decay bias.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CrossEntropyLoss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Computes classification loss.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Mixed Precision (FP16)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Speeds up training &amp; reduces memory usage.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Gradient Accumulation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Allows large batch training on limited memory.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Cosine Annealing LR Scheduler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Smoothly adjusts learning rate to prevent sharp changes.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Validation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Evaluates model performance after each epoch.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311700" y="12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Results - Training vs Validation Error</a:t>
            </a:r>
            <a:endParaRPr b="1" sz="2220"/>
          </a:p>
        </p:txBody>
      </p:sp>
      <p:pic>
        <p:nvPicPr>
          <p:cNvPr id="335" name="Google Shape;335;p40" title="Training &amp; Validation Errors vs Epochs_page-00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050" y="616900"/>
            <a:ext cx="5718549" cy="44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type="title"/>
          </p:nvPr>
        </p:nvSpPr>
        <p:spPr>
          <a:xfrm>
            <a:off x="311700" y="12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Results - Test Set</a:t>
            </a:r>
            <a:endParaRPr b="1" sz="2220"/>
          </a:p>
        </p:txBody>
      </p:sp>
      <p:pic>
        <p:nvPicPr>
          <p:cNvPr id="341" name="Google Shape;341;p41" title="Test Set Confusion Matrix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650" y="536775"/>
            <a:ext cx="5361000" cy="4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type="title"/>
          </p:nvPr>
        </p:nvSpPr>
        <p:spPr>
          <a:xfrm>
            <a:off x="311700" y="12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Results - Test Set</a:t>
            </a:r>
            <a:endParaRPr b="1" sz="2220"/>
          </a:p>
        </p:txBody>
      </p:sp>
      <p:pic>
        <p:nvPicPr>
          <p:cNvPr id="347" name="Google Shape;34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4875" y="428450"/>
            <a:ext cx="3760950" cy="471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3"/>
          <p:cNvSpPr txBox="1"/>
          <p:nvPr>
            <p:ph type="title"/>
          </p:nvPr>
        </p:nvSpPr>
        <p:spPr>
          <a:xfrm>
            <a:off x="311700" y="12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Results - Test Set</a:t>
            </a:r>
            <a:endParaRPr b="1" sz="2220"/>
          </a:p>
        </p:txBody>
      </p:sp>
      <p:sp>
        <p:nvSpPr>
          <p:cNvPr id="353" name="Google Shape;353;p43"/>
          <p:cNvSpPr txBox="1"/>
          <p:nvPr/>
        </p:nvSpPr>
        <p:spPr>
          <a:xfrm>
            <a:off x="448025" y="613225"/>
            <a:ext cx="8520600" cy="41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Example 1:</a:t>
            </a:r>
            <a:endParaRPr b="1"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Conversation: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 got attacked by a swarm of bees a few months back. Needless to say it hurt. How awful, besides painful, it must have been </a:t>
            </a: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scary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! It was, they we're absolutely </a:t>
            </a: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furious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with me for some reason. Were you messing with them, maybe? or taking their honey?</a:t>
            </a:r>
            <a:endParaRPr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True Label: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anger</a:t>
            </a:r>
            <a:endParaRPr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Predicted Label: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fear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Example 2:</a:t>
            </a:r>
            <a:endParaRPr b="1"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Conversation: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 have to rely on my prayers and my belief in a high power to get me through not having a job and no money. Things work out. It doesn't seem like it but they do. I remind myself all the time that it will work out and all will be good again. It will. I am sure of it.</a:t>
            </a:r>
            <a:endParaRPr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True Label: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faithful</a:t>
            </a:r>
            <a:endParaRPr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Predicted Label: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trusting</a:t>
            </a:r>
            <a:endParaRPr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Example 3:</a:t>
            </a:r>
            <a:endParaRPr b="1"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Conversation: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My husband was teaching me how to make a steak. The flame was so warm! That sounds like a fun thing to do as a couple. It was but I was so sad that I was so </a:t>
            </a: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scared 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Why were you so </a:t>
            </a: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scared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True Label: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worried</a:t>
            </a:r>
            <a:endParaRPr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Predicted Label:</a:t>
            </a:r>
            <a:r>
              <a:rPr lang="en" sz="125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fear</a:t>
            </a:r>
            <a:endParaRPr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F1F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</a:t>
            </a:r>
            <a:endParaRPr b="1"/>
          </a:p>
        </p:txBody>
      </p:sp>
      <p:graphicFrame>
        <p:nvGraphicFramePr>
          <p:cNvPr id="359" name="Google Shape;359;p44"/>
          <p:cNvGraphicFramePr/>
          <p:nvPr/>
        </p:nvGraphicFramePr>
        <p:xfrm>
          <a:off x="952500" y="129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{4BB74762-90FC-4D7A-8A8A-4D075B6B5C0D}</a:tableStyleId>
              </a:tblPr>
              <a:tblGrid>
                <a:gridCol w="1454200"/>
                <a:gridCol w="3192575"/>
                <a:gridCol w="2592225"/>
              </a:tblGrid>
              <a:tr h="47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Aspect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Traditional ML (</a:t>
                      </a:r>
                      <a:r>
                        <a:rPr b="1" lang="en"/>
                        <a:t>Hierarchical</a:t>
                      </a:r>
                      <a:r>
                        <a:rPr b="1" lang="en"/>
                        <a:t> Model)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Deep Learning (BERT)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41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Performance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Lower accuracy, F1-score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Higher accuracy, better F1-score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1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Feature Extraction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Requires </a:t>
                      </a:r>
                      <a:r>
                        <a:rPr lang="en" sz="1300"/>
                        <a:t>manual</a:t>
                      </a:r>
                      <a:r>
                        <a:rPr lang="en" sz="1300"/>
                        <a:t> feature engineering (TF-IDF)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Automatically learns from raw data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1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Computation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Low (works on CPU)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High (needs GPU)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1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Speed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Faster training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Slower training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41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Use case </a:t>
                      </a:r>
                      <a:r>
                        <a:rPr b="1" lang="en" sz="1300"/>
                        <a:t>scalability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Suitable for resource-limited environments &amp; simple tasks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Best for complex NLP where accuracy matters </a:t>
                      </a:r>
                      <a:r>
                        <a:rPr lang="en" sz="1300"/>
                        <a:t>more</a:t>
                      </a:r>
                      <a:r>
                        <a:rPr lang="en" sz="1300"/>
                        <a:t> than speed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5"/>
          <p:cNvSpPr txBox="1"/>
          <p:nvPr>
            <p:ph type="title"/>
          </p:nvPr>
        </p:nvSpPr>
        <p:spPr>
          <a:xfrm>
            <a:off x="1945500" y="1996800"/>
            <a:ext cx="5253000" cy="11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5820"/>
              <a:t>THANK YOU!</a:t>
            </a:r>
            <a:endParaRPr b="1" sz="582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67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